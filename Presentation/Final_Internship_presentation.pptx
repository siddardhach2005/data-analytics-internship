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4320" r:id="rId1"/>
  </p:sldMasterIdLst>
  <p:sldIdLst>
    <p:sldId id="256" r:id="rId2"/>
    <p:sldId id="257" r:id="rId3"/>
    <p:sldId id="258" r:id="rId4"/>
    <p:sldId id="259" r:id="rId5"/>
    <p:sldId id="260" r:id="rId6"/>
    <p:sldId id="262" r:id="rId7"/>
    <p:sldId id="263" r:id="rId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Untitled Section" id="{CFA36484-9E81-462B-9766-581C37D912FE}">
          <p14:sldIdLst>
            <p14:sldId id="256"/>
            <p14:sldId id="257"/>
            <p14:sldId id="258"/>
            <p14:sldId id="259"/>
            <p14:sldId id="260"/>
            <p14:sldId id="262"/>
            <p14:sldId id="263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55035076-C4E4-436A-8809-AF4F49C8E496}" v="30" dt="2026-06-16T07:10:42.291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76" d="100"/>
          <a:sy n="76" d="100"/>
        </p:scale>
        <p:origin x="91" y="101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microsoft.com/office/2015/10/relationships/revisionInfo" Target="revisionInfo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95269" y="1122363"/>
            <a:ext cx="9001462" cy="2387600"/>
          </a:xfrm>
        </p:spPr>
        <p:txBody>
          <a:bodyPr anchor="b">
            <a:normAutofit/>
          </a:bodyPr>
          <a:lstStyle>
            <a:lvl1pPr algn="ctr"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95269" y="3602038"/>
            <a:ext cx="9001462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60EA64-D806-43AC-9DF2-F8C432F32B4C}" type="datetimeFigureOut">
              <a:rPr lang="en-US" smtClean="0"/>
              <a:t>6/16/2026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5201814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70A7B3-6521-4DCA-87E5-044747A908C1}" type="datetimeFigureOut">
              <a:rPr lang="en-US" smtClean="0"/>
              <a:t>6/16/2026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7679518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29244" y="657226"/>
            <a:ext cx="9733512" cy="2852737"/>
          </a:xfrm>
        </p:spPr>
        <p:txBody>
          <a:bodyPr anchor="b">
            <a:normAutofit/>
          </a:bodyPr>
          <a:lstStyle>
            <a:lvl1pPr>
              <a:defRPr sz="3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29244" y="3602038"/>
            <a:ext cx="9733512" cy="1500187"/>
          </a:xfrm>
        </p:spPr>
        <p:txBody>
          <a:bodyPr/>
          <a:lstStyle>
            <a:lvl1pPr marL="0" indent="0" algn="ctr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60EA64-D806-43AC-9DF2-F8C432F32B4C}" type="datetimeFigureOut">
              <a:rPr lang="en-US" smtClean="0"/>
              <a:t>6/16/2026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1962269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1" cy="1326321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913795" y="2088319"/>
            <a:ext cx="5106004" cy="370288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3403" y="2088319"/>
            <a:ext cx="5094154" cy="370288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134690-1557-4C89-A502-4959FE7FAD70}" type="datetimeFigureOut">
              <a:rPr lang="en-US" smtClean="0"/>
              <a:t>6/16/2026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5133776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1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804" y="2088320"/>
            <a:ext cx="4879199" cy="823912"/>
          </a:xfrm>
        </p:spPr>
        <p:txBody>
          <a:bodyPr anchor="b"/>
          <a:lstStyle>
            <a:lvl1pPr marL="0" indent="0">
              <a:lnSpc>
                <a:spcPct val="100000"/>
              </a:lnSpc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913795" y="2912232"/>
            <a:ext cx="5107208" cy="287896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02003" y="2088320"/>
            <a:ext cx="4865554" cy="823912"/>
          </a:xfrm>
        </p:spPr>
        <p:txBody>
          <a:bodyPr anchor="b"/>
          <a:lstStyle>
            <a:lvl1pPr marL="0" indent="0">
              <a:lnSpc>
                <a:spcPct val="100000"/>
              </a:lnSpc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912232"/>
            <a:ext cx="5095357" cy="287896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60EA64-D806-43AC-9DF2-F8C432F32B4C}" type="datetimeFigureOut">
              <a:rPr lang="en-US" smtClean="0"/>
              <a:t>6/16/2026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6932233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037C31-9E7A-4F99-8774-A0E530DE1A42}" type="datetimeFigureOut">
              <a:rPr lang="en-US" smtClean="0"/>
              <a:t>6/16/2026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5197080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78504F-A551-4DE0-9316-4DCD1D8CC752}" type="datetimeFigureOut">
              <a:rPr lang="en-US" smtClean="0"/>
              <a:t>6/16/2026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11879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7228" y="609600"/>
            <a:ext cx="3932237" cy="2362200"/>
          </a:xfrm>
        </p:spPr>
        <p:txBody>
          <a:bodyPr anchor="b">
            <a:norm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78064" y="609600"/>
            <a:ext cx="6189492" cy="5181600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7228" y="2971800"/>
            <a:ext cx="3932237" cy="2819399"/>
          </a:xfrm>
        </p:spPr>
        <p:txBody>
          <a:bodyPr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BE4249-C0D0-4B06-8692-E8BB871AF643}" type="datetimeFigureOut">
              <a:rPr lang="en-US" smtClean="0"/>
              <a:t>6/16/2026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7299716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7227" y="609600"/>
            <a:ext cx="5929773" cy="2362200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424804" y="758881"/>
            <a:ext cx="3255356" cy="4883038"/>
          </a:xfrm>
          <a:noFill/>
          <a:ln w="1905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2971800"/>
            <a:ext cx="5934950" cy="2819400"/>
          </a:xfrm>
        </p:spPr>
        <p:txBody>
          <a:bodyPr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2B0DB6-F5C7-45FB-8CF3-31B45F9C2DAC}" type="datetimeFigureOut">
              <a:rPr lang="en-US" smtClean="0"/>
              <a:t>6/16/2026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3264315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806" y="4289372"/>
            <a:ext cx="10367564" cy="819355"/>
          </a:xfrm>
        </p:spPr>
        <p:txBody>
          <a:bodyPr anchor="b">
            <a:norm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913806" y="621321"/>
            <a:ext cx="10367564" cy="3379735"/>
          </a:xfrm>
          <a:noFill/>
          <a:ln w="1905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5" y="5108728"/>
            <a:ext cx="10365998" cy="682472"/>
          </a:xfrm>
        </p:spPr>
        <p:txBody>
          <a:bodyPr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60EA64-D806-43AC-9DF2-F8C432F32B4C}" type="datetimeFigureOut">
              <a:rPr lang="en-US" smtClean="0"/>
              <a:t>6/16/2026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5663813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2" cy="3424859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5" y="4204820"/>
            <a:ext cx="10353761" cy="1592186"/>
          </a:xfrm>
        </p:spPr>
        <p:txBody>
          <a:bodyPr anchor="ctr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60EA64-D806-43AC-9DF2-F8C432F32B4C}" type="datetimeFigureOut">
              <a:rPr lang="en-US" smtClean="0"/>
              <a:t>6/16/2026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6913869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609600"/>
            <a:ext cx="9302752" cy="2992904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610032"/>
            <a:ext cx="8752299" cy="426812"/>
          </a:xfrm>
        </p:spPr>
        <p:txBody>
          <a:bodyPr anchor="t">
            <a:normAutofit/>
          </a:bodyPr>
          <a:lstStyle>
            <a:lvl1pPr marL="0" indent="0" algn="r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4204821"/>
            <a:ext cx="10353762" cy="1586380"/>
          </a:xfrm>
        </p:spPr>
        <p:txBody>
          <a:bodyPr anchor="ctr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60EA64-D806-43AC-9DF2-F8C432F32B4C}" type="datetimeFigureOut">
              <a:rPr lang="en-US" smtClean="0"/>
              <a:t>6/16/2026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1" name="TextBox 10"/>
          <p:cNvSpPr txBox="1"/>
          <p:nvPr/>
        </p:nvSpPr>
        <p:spPr>
          <a:xfrm>
            <a:off x="836612" y="73524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57956" y="2972093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411101935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806" y="2126942"/>
            <a:ext cx="10355327" cy="2511835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4650556"/>
            <a:ext cx="10353763" cy="1140644"/>
          </a:xfrm>
        </p:spPr>
        <p:txBody>
          <a:bodyPr anchor="t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60EA64-D806-43AC-9DF2-F8C432F32B4C}" type="datetimeFigureOut">
              <a:rPr lang="en-US" smtClean="0"/>
              <a:t>6/16/2026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8809053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913794" y="609600"/>
            <a:ext cx="10353762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913794" y="2088319"/>
            <a:ext cx="3298956" cy="823305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913794" y="2911624"/>
            <a:ext cx="3298956" cy="2879576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44878" y="2088320"/>
            <a:ext cx="3298558" cy="823304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444878" y="2911624"/>
            <a:ext cx="3299821" cy="2879576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73298" y="2088320"/>
            <a:ext cx="3291211" cy="823304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976346" y="2911624"/>
            <a:ext cx="3291211" cy="2879576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60EA64-D806-43AC-9DF2-F8C432F32B4C}" type="datetimeFigureOut">
              <a:rPr lang="en-US" smtClean="0"/>
              <a:t>6/16/2026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4711854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2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913795" y="4195899"/>
            <a:ext cx="3298955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092020" y="2298987"/>
            <a:ext cx="2940050" cy="1524000"/>
          </a:xfrm>
          <a:prstGeom prst="roundRect">
            <a:avLst>
              <a:gd name="adj" fmla="val 0"/>
            </a:avLst>
          </a:prstGeom>
          <a:noFill/>
          <a:ln w="14605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913795" y="4772161"/>
            <a:ext cx="3298955" cy="101903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42701" y="4195899"/>
            <a:ext cx="3298983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568996" y="2298987"/>
            <a:ext cx="2930525" cy="1524000"/>
          </a:xfrm>
          <a:prstGeom prst="roundRect">
            <a:avLst>
              <a:gd name="adj" fmla="val 0"/>
            </a:avLst>
          </a:prstGeom>
          <a:noFill/>
          <a:ln w="14605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441348" y="4772160"/>
            <a:ext cx="3300336" cy="101903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73423" y="4195899"/>
            <a:ext cx="3289900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8152803" y="2298987"/>
            <a:ext cx="2932113" cy="1524000"/>
          </a:xfrm>
          <a:prstGeom prst="roundRect">
            <a:avLst>
              <a:gd name="adj" fmla="val 0"/>
            </a:avLst>
          </a:prstGeom>
          <a:noFill/>
          <a:ln w="14605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973298" y="4772161"/>
            <a:ext cx="3294258" cy="1019037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60EA64-D806-43AC-9DF2-F8C432F32B4C}" type="datetimeFigureOut">
              <a:rPr lang="en-US" smtClean="0"/>
              <a:t>6/16/2026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29064653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F9C37B-1D36-470B-8223-D6C91242EC14}" type="datetimeFigureOut">
              <a:rPr lang="en-US" smtClean="0"/>
              <a:t>6/16/2026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32071485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609599"/>
            <a:ext cx="2542657" cy="5181601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913794" y="609599"/>
            <a:ext cx="7658705" cy="5181601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C6F52A-A82B-47A2-A83A-8C4C91F2D59F}" type="datetimeFigureOut">
              <a:rPr lang="en-US" smtClean="0"/>
              <a:t>6/16/2026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5272843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1" cy="132632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3795" y="2096064"/>
            <a:ext cx="10353762" cy="369513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678736" y="5883275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160EA64-D806-43AC-9DF2-F8C432F32B4C}" type="datetimeFigureOut">
              <a:rPr lang="en-US" smtClean="0"/>
              <a:t>6/16/2026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913794" y="5883275"/>
            <a:ext cx="667286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14011" y="5883275"/>
            <a:ext cx="75354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A7A6979-0714-4377-B894-6BE4C2D6E20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82705344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4321" r:id="rId1"/>
    <p:sldLayoutId id="2147484322" r:id="rId2"/>
    <p:sldLayoutId id="2147484323" r:id="rId3"/>
    <p:sldLayoutId id="2147484324" r:id="rId4"/>
    <p:sldLayoutId id="2147484325" r:id="rId5"/>
    <p:sldLayoutId id="2147484326" r:id="rId6"/>
    <p:sldLayoutId id="2147484327" r:id="rId7"/>
    <p:sldLayoutId id="2147484328" r:id="rId8"/>
    <p:sldLayoutId id="2147484329" r:id="rId9"/>
    <p:sldLayoutId id="2147484330" r:id="rId10"/>
    <p:sldLayoutId id="2147484331" r:id="rId11"/>
    <p:sldLayoutId id="2147484332" r:id="rId12"/>
    <p:sldLayoutId id="2147484333" r:id="rId13"/>
    <p:sldLayoutId id="2147484334" r:id="rId14"/>
    <p:sldLayoutId id="2147484335" r:id="rId15"/>
    <p:sldLayoutId id="2147484336" r:id="rId16"/>
    <p:sldLayoutId id="2147484337" r:id="rId17"/>
  </p:sldLayoutIdLst>
  <p:txStyles>
    <p:titleStyle>
      <a:lvl1pPr algn="ctr" defTabSz="914400" rtl="0" eaLnBrk="1" latinLnBrk="0" hangingPunct="1">
        <a:lnSpc>
          <a:spcPct val="90000"/>
        </a:lnSpc>
        <a:spcBef>
          <a:spcPct val="0"/>
        </a:spcBef>
        <a:buNone/>
        <a:defRPr sz="3400" b="1" i="0" kern="1200" cap="all">
          <a:solidFill>
            <a:schemeClr val="tx1"/>
          </a:solidFill>
          <a:effectLst>
            <a:outerShdw blurRad="50800" dist="63500" dir="2700000" algn="tl" rotWithShape="0">
              <a:srgbClr val="000000">
                <a:alpha val="48000"/>
              </a:srgbClr>
            </a:outerShdw>
          </a:effectLst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38AD5DAA-294B-050F-EF44-C6CD8640934D}"/>
              </a:ext>
            </a:extLst>
          </p:cNvPr>
          <p:cNvSpPr txBox="1"/>
          <p:nvPr/>
        </p:nvSpPr>
        <p:spPr>
          <a:xfrm>
            <a:off x="1435511" y="2389239"/>
            <a:ext cx="961594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/>
              <a:t>DATA ANALYTICS INTERNSHIP PORTFOLIO</a:t>
            </a:r>
            <a:endParaRPr lang="en-IN" sz="32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91EF995-03D0-D5C3-DCE4-235EE740E3CA}"/>
              </a:ext>
            </a:extLst>
          </p:cNvPr>
          <p:cNvSpPr txBox="1"/>
          <p:nvPr/>
        </p:nvSpPr>
        <p:spPr>
          <a:xfrm>
            <a:off x="7187381" y="5122606"/>
            <a:ext cx="486696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APEX PLANET SOFTWARE PVT.LTD</a:t>
            </a:r>
            <a:endParaRPr lang="en-IN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417B251-80DC-4D50-776F-DB22FF70CF2C}"/>
              </a:ext>
            </a:extLst>
          </p:cNvPr>
          <p:cNvSpPr txBox="1"/>
          <p:nvPr/>
        </p:nvSpPr>
        <p:spPr>
          <a:xfrm>
            <a:off x="7492180" y="5701183"/>
            <a:ext cx="425736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Siddardha </a:t>
            </a:r>
            <a:r>
              <a:rPr lang="en-US" dirty="0" err="1"/>
              <a:t>Chennamsetti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29435341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504489C-4951-39C7-D30C-2846168CE8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4333A71A-93A7-44A7-F4AC-FBD650075E1E}"/>
              </a:ext>
            </a:extLst>
          </p:cNvPr>
          <p:cNvSpPr txBox="1"/>
          <p:nvPr/>
        </p:nvSpPr>
        <p:spPr>
          <a:xfrm>
            <a:off x="609600" y="442452"/>
            <a:ext cx="383458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INTERNSHIP  OVERVIEW :</a:t>
            </a:r>
            <a:endParaRPr lang="en-IN" sz="20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33E6F0A-0B41-30EB-FE64-EFF6DD1B98B8}"/>
              </a:ext>
            </a:extLst>
          </p:cNvPr>
          <p:cNvSpPr txBox="1"/>
          <p:nvPr/>
        </p:nvSpPr>
        <p:spPr>
          <a:xfrm>
            <a:off x="707923" y="1656954"/>
            <a:ext cx="10903974" cy="42473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The internship focused on developing essential analytical skills including </a:t>
            </a:r>
            <a:r>
              <a:rPr lang="en-US" b="1" dirty="0"/>
              <a:t>data preprocessing, exploratory data analysis, dashboard development, statistical testing, and data storytelling</a:t>
            </a:r>
            <a:r>
              <a:rPr lang="en-US" dirty="0"/>
              <a:t>.</a:t>
            </a:r>
            <a:br>
              <a:rPr lang="en-US" dirty="0"/>
            </a:br>
            <a:br>
              <a:rPr lang="en-US" dirty="0"/>
            </a:br>
            <a:r>
              <a:rPr lang="en-US" dirty="0"/>
              <a:t>Throughout the internship, I completed multiple tasks that involved working with real datasets, identifying business problems, performing detailed data analysis, and presenting insights that support </a:t>
            </a:r>
            <a:r>
              <a:rPr lang="en-US" b="1" dirty="0"/>
              <a:t>data-driven decision making</a:t>
            </a:r>
            <a:r>
              <a:rPr lang="en-US" dirty="0"/>
              <a:t>.</a:t>
            </a:r>
            <a:br>
              <a:rPr lang="en-US" dirty="0"/>
            </a:br>
            <a:br>
              <a:rPr lang="en-US" dirty="0"/>
            </a:br>
            <a:r>
              <a:rPr lang="en-US" dirty="0"/>
              <a:t>The projects covered different stages of the analytics pipeline, including:</a:t>
            </a:r>
            <a:br>
              <a:rPr lang="en-US" dirty="0"/>
            </a:br>
            <a:endParaRPr lang="en-US" dirty="0"/>
          </a:p>
          <a:p>
            <a:r>
              <a:rPr lang="en-US" dirty="0"/>
              <a:t>• </a:t>
            </a:r>
            <a:r>
              <a:rPr lang="en-US" b="1" dirty="0"/>
              <a:t>Data Cleaning &amp; Preparation</a:t>
            </a:r>
            <a:r>
              <a:rPr lang="en-US" dirty="0"/>
              <a:t> – Preparing raw datasets for analysis</a:t>
            </a:r>
            <a:br>
              <a:rPr lang="en-US" dirty="0"/>
            </a:br>
            <a:r>
              <a:rPr lang="en-US" dirty="0"/>
              <a:t>• </a:t>
            </a:r>
            <a:r>
              <a:rPr lang="en-US" b="1" dirty="0"/>
              <a:t>Exploratory Data Analysis (EDA)</a:t>
            </a:r>
            <a:r>
              <a:rPr lang="en-US" dirty="0"/>
              <a:t> – Discovering patterns and trends in data</a:t>
            </a:r>
            <a:br>
              <a:rPr lang="en-US" dirty="0"/>
            </a:br>
            <a:r>
              <a:rPr lang="en-US" dirty="0"/>
              <a:t>• </a:t>
            </a:r>
            <a:r>
              <a:rPr lang="en-US" b="1" dirty="0"/>
              <a:t>Business Intelligence &amp; Dashboarding</a:t>
            </a:r>
            <a:r>
              <a:rPr lang="en-US" dirty="0"/>
              <a:t> – Visualizing insights using Power BI</a:t>
            </a:r>
            <a:br>
              <a:rPr lang="en-US" dirty="0"/>
            </a:br>
            <a:r>
              <a:rPr lang="en-US" dirty="0"/>
              <a:t>• </a:t>
            </a:r>
            <a:r>
              <a:rPr lang="en-US" b="1" dirty="0"/>
              <a:t>Statistical Analysis &amp; A/B Testing</a:t>
            </a:r>
            <a:r>
              <a:rPr lang="en-US" dirty="0"/>
              <a:t> – Validating business experiments using hypothesis testing</a:t>
            </a:r>
            <a:br>
              <a:rPr lang="en-US" dirty="0"/>
            </a:br>
            <a:r>
              <a:rPr lang="en-US" dirty="0"/>
              <a:t>• </a:t>
            </a:r>
            <a:r>
              <a:rPr lang="en-US" b="1" dirty="0"/>
              <a:t>Data Storytelling</a:t>
            </a:r>
            <a:r>
              <a:rPr lang="en-US" dirty="0"/>
              <a:t> – Communicating analytical insights in a clear and structured manner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11341160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3413D02-A901-D2EC-42D0-82140ECEE4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2720CF6E-B13E-B447-900A-EE7B561604B4}"/>
              </a:ext>
            </a:extLst>
          </p:cNvPr>
          <p:cNvSpPr txBox="1"/>
          <p:nvPr/>
        </p:nvSpPr>
        <p:spPr>
          <a:xfrm>
            <a:off x="265471" y="216310"/>
            <a:ext cx="358877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Task – 1 Summary :</a:t>
            </a:r>
            <a:endParaRPr lang="en-IN" sz="20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C093262-84A0-4B42-B506-340EEE8CEF59}"/>
              </a:ext>
            </a:extLst>
          </p:cNvPr>
          <p:cNvSpPr txBox="1"/>
          <p:nvPr/>
        </p:nvSpPr>
        <p:spPr>
          <a:xfrm>
            <a:off x="3854245" y="806245"/>
            <a:ext cx="288085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Data Cleaning &amp; analysis</a:t>
            </a:r>
            <a:endParaRPr lang="en-IN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DF42358-31D5-F2D3-3722-554ED6360FBB}"/>
              </a:ext>
            </a:extLst>
          </p:cNvPr>
          <p:cNvSpPr txBox="1"/>
          <p:nvPr/>
        </p:nvSpPr>
        <p:spPr>
          <a:xfrm>
            <a:off x="442452" y="1361108"/>
            <a:ext cx="11080954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📌 </a:t>
            </a:r>
            <a:r>
              <a:rPr lang="en-IN" b="1" dirty="0"/>
              <a:t>Objective</a:t>
            </a:r>
            <a:br>
              <a:rPr lang="en-IN" b="1" dirty="0"/>
            </a:br>
            <a:endParaRPr lang="en-IN" dirty="0"/>
          </a:p>
          <a:p>
            <a:r>
              <a:rPr lang="en-IN" dirty="0"/>
              <a:t>Perform data preprocessing and prepare datasets for analysis.</a:t>
            </a:r>
            <a:br>
              <a:rPr lang="en-IN" dirty="0"/>
            </a:br>
            <a:endParaRPr lang="en-IN" dirty="0"/>
          </a:p>
          <a:p>
            <a:r>
              <a:rPr lang="en-IN" dirty="0"/>
              <a:t>📌 </a:t>
            </a:r>
            <a:r>
              <a:rPr lang="en-IN" b="1" dirty="0"/>
              <a:t>Key Work</a:t>
            </a:r>
            <a:br>
              <a:rPr lang="en-IN" b="1" dirty="0"/>
            </a:br>
            <a:endParaRPr lang="en-IN" dirty="0"/>
          </a:p>
          <a:p>
            <a:r>
              <a:rPr lang="en-IN" dirty="0"/>
              <a:t>- Data cleaning using Python</a:t>
            </a:r>
          </a:p>
          <a:p>
            <a:r>
              <a:rPr lang="en-IN" dirty="0"/>
              <a:t>- Handling missing values</a:t>
            </a:r>
          </a:p>
          <a:p>
            <a:r>
              <a:rPr lang="en-IN" dirty="0"/>
              <a:t>- Data transformation</a:t>
            </a:r>
          </a:p>
          <a:p>
            <a:r>
              <a:rPr lang="en-IN" dirty="0"/>
              <a:t>- Initial exploratory insights</a:t>
            </a:r>
            <a:br>
              <a:rPr lang="en-IN" dirty="0"/>
            </a:br>
            <a:endParaRPr lang="en-IN" dirty="0"/>
          </a:p>
          <a:p>
            <a:r>
              <a:rPr lang="en-IN" dirty="0"/>
              <a:t>📌 </a:t>
            </a:r>
            <a:r>
              <a:rPr lang="en-IN" b="1" dirty="0"/>
              <a:t>Tools Used</a:t>
            </a:r>
            <a:br>
              <a:rPr lang="en-IN" b="1" dirty="0"/>
            </a:br>
            <a:endParaRPr lang="en-IN" dirty="0"/>
          </a:p>
          <a:p>
            <a:r>
              <a:rPr lang="en-IN" dirty="0"/>
              <a:t>Python • Pandas • </a:t>
            </a:r>
            <a:r>
              <a:rPr lang="en-IN" dirty="0" err="1"/>
              <a:t>Jupyter</a:t>
            </a:r>
            <a:r>
              <a:rPr lang="en-IN" dirty="0"/>
              <a:t> Notebook</a:t>
            </a:r>
          </a:p>
        </p:txBody>
      </p:sp>
    </p:spTree>
    <p:extLst>
      <p:ext uri="{BB962C8B-B14F-4D97-AF65-F5344CB8AC3E}">
        <p14:creationId xmlns:p14="http://schemas.microsoft.com/office/powerpoint/2010/main" val="78060046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9245233-9882-FDE0-904A-B4DBF52A33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9AF63397-986A-4901-DC14-3302949B830E}"/>
              </a:ext>
            </a:extLst>
          </p:cNvPr>
          <p:cNvSpPr txBox="1"/>
          <p:nvPr/>
        </p:nvSpPr>
        <p:spPr>
          <a:xfrm>
            <a:off x="265471" y="216310"/>
            <a:ext cx="358877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Task – 2 Summary :</a:t>
            </a:r>
            <a:endParaRPr lang="en-IN" sz="20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A16B109-8A3B-5A27-2F4A-86319036A21B}"/>
              </a:ext>
            </a:extLst>
          </p:cNvPr>
          <p:cNvSpPr txBox="1"/>
          <p:nvPr/>
        </p:nvSpPr>
        <p:spPr>
          <a:xfrm>
            <a:off x="2949677" y="786581"/>
            <a:ext cx="519143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Exploratory Data Analysis &amp; Business Intelligence</a:t>
            </a:r>
            <a:endParaRPr lang="en-IN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D9BC5E4-D835-4AD1-7442-C59B5EC44711}"/>
              </a:ext>
            </a:extLst>
          </p:cNvPr>
          <p:cNvSpPr txBox="1"/>
          <p:nvPr/>
        </p:nvSpPr>
        <p:spPr>
          <a:xfrm>
            <a:off x="432619" y="1892050"/>
            <a:ext cx="11080954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📌 </a:t>
            </a:r>
            <a:r>
              <a:rPr lang="en-IN" b="1" dirty="0"/>
              <a:t>Objective</a:t>
            </a:r>
            <a:br>
              <a:rPr lang="en-IN" b="1" dirty="0"/>
            </a:br>
            <a:endParaRPr lang="en-IN" dirty="0"/>
          </a:p>
          <a:p>
            <a:r>
              <a:rPr lang="en-US" dirty="0"/>
              <a:t>Analyze the </a:t>
            </a:r>
            <a:r>
              <a:rPr lang="en-US" b="1" dirty="0"/>
              <a:t>Walmart Retail Sales Dataset</a:t>
            </a:r>
            <a:r>
              <a:rPr lang="en-US" dirty="0"/>
              <a:t> to uncover business insights</a:t>
            </a:r>
            <a:r>
              <a:rPr lang="en-IN" dirty="0"/>
              <a:t>.</a:t>
            </a:r>
            <a:br>
              <a:rPr lang="en-IN" dirty="0"/>
            </a:br>
            <a:endParaRPr lang="en-IN" dirty="0"/>
          </a:p>
          <a:p>
            <a:r>
              <a:rPr lang="en-IN" dirty="0"/>
              <a:t>📌 </a:t>
            </a:r>
            <a:r>
              <a:rPr lang="en-IN" b="1" dirty="0"/>
              <a:t>Key Work</a:t>
            </a:r>
            <a:br>
              <a:rPr lang="en-IN" b="1" dirty="0"/>
            </a:br>
            <a:endParaRPr lang="en-IN" dirty="0"/>
          </a:p>
          <a:p>
            <a:r>
              <a:rPr lang="en-IN" dirty="0"/>
              <a:t>- Exploratory Data Analysis (EDA)</a:t>
            </a:r>
          </a:p>
          <a:p>
            <a:r>
              <a:rPr lang="en-IN" dirty="0"/>
              <a:t>- SQL business queries</a:t>
            </a:r>
          </a:p>
          <a:p>
            <a:r>
              <a:rPr lang="en-IN" dirty="0"/>
              <a:t>- Multivariate analysis</a:t>
            </a:r>
          </a:p>
          <a:p>
            <a:r>
              <a:rPr lang="en-IN" dirty="0"/>
              <a:t>- Data visualization</a:t>
            </a:r>
            <a:br>
              <a:rPr lang="en-IN" dirty="0"/>
            </a:br>
            <a:endParaRPr lang="en-IN" dirty="0"/>
          </a:p>
          <a:p>
            <a:r>
              <a:rPr lang="en-IN" dirty="0"/>
              <a:t>📌 </a:t>
            </a:r>
            <a:r>
              <a:rPr lang="en-IN" b="1" dirty="0"/>
              <a:t>Tools Used</a:t>
            </a:r>
            <a:br>
              <a:rPr lang="en-IN" b="1" dirty="0"/>
            </a:br>
            <a:endParaRPr lang="en-IN" dirty="0"/>
          </a:p>
          <a:p>
            <a:r>
              <a:rPr lang="en-IN" dirty="0"/>
              <a:t>Python • Pandas • SQL • Matplotlib • Seaborn</a:t>
            </a:r>
          </a:p>
        </p:txBody>
      </p:sp>
    </p:spTree>
    <p:extLst>
      <p:ext uri="{BB962C8B-B14F-4D97-AF65-F5344CB8AC3E}">
        <p14:creationId xmlns:p14="http://schemas.microsoft.com/office/powerpoint/2010/main" val="90221130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D5F6B3E-C3BB-B341-617E-266B8220B0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EC150FF2-FD69-9CE6-AA06-967885108B5B}"/>
              </a:ext>
            </a:extLst>
          </p:cNvPr>
          <p:cNvSpPr txBox="1"/>
          <p:nvPr/>
        </p:nvSpPr>
        <p:spPr>
          <a:xfrm>
            <a:off x="265471" y="216310"/>
            <a:ext cx="358877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Task – 3 Summary :</a:t>
            </a:r>
            <a:endParaRPr lang="en-IN" sz="20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26AA251-3079-89B1-2A2F-B3CC7A0B45E2}"/>
              </a:ext>
            </a:extLst>
          </p:cNvPr>
          <p:cNvSpPr txBox="1"/>
          <p:nvPr/>
        </p:nvSpPr>
        <p:spPr>
          <a:xfrm>
            <a:off x="2949677" y="786581"/>
            <a:ext cx="519143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Deep Dive Analysis &amp; Interactive Dashboard</a:t>
            </a:r>
            <a:endParaRPr lang="en-IN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22F3F0E-86C5-2AEE-47A7-A9A33ADA49BF}"/>
              </a:ext>
            </a:extLst>
          </p:cNvPr>
          <p:cNvSpPr txBox="1"/>
          <p:nvPr/>
        </p:nvSpPr>
        <p:spPr>
          <a:xfrm>
            <a:off x="432619" y="1892050"/>
            <a:ext cx="11080954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📌 </a:t>
            </a:r>
            <a:r>
              <a:rPr lang="en-IN" b="1" dirty="0"/>
              <a:t>Objective</a:t>
            </a:r>
            <a:br>
              <a:rPr lang="en-IN" b="1" dirty="0"/>
            </a:br>
            <a:endParaRPr lang="en-IN" dirty="0"/>
          </a:p>
          <a:p>
            <a:r>
              <a:rPr lang="en-US" dirty="0"/>
              <a:t>Perform advanced analysis on the </a:t>
            </a:r>
            <a:r>
              <a:rPr lang="en-US" b="1" dirty="0" err="1"/>
              <a:t>Olist</a:t>
            </a:r>
            <a:r>
              <a:rPr lang="en-US" b="1" dirty="0"/>
              <a:t> E-Commerce Dataset</a:t>
            </a:r>
            <a:r>
              <a:rPr lang="en-US" dirty="0"/>
              <a:t> and create an interactive dashboard</a:t>
            </a:r>
            <a:r>
              <a:rPr lang="en-IN" dirty="0"/>
              <a:t>.</a:t>
            </a:r>
            <a:br>
              <a:rPr lang="en-IN" dirty="0"/>
            </a:br>
            <a:endParaRPr lang="en-IN" dirty="0"/>
          </a:p>
          <a:p>
            <a:r>
              <a:rPr lang="en-IN" dirty="0"/>
              <a:t>📌 </a:t>
            </a:r>
            <a:r>
              <a:rPr lang="en-IN" b="1" dirty="0"/>
              <a:t>Key Work</a:t>
            </a:r>
            <a:br>
              <a:rPr lang="en-IN" b="1" dirty="0"/>
            </a:br>
            <a:endParaRPr lang="en-IN" dirty="0"/>
          </a:p>
          <a:p>
            <a:r>
              <a:rPr lang="en-IN" dirty="0"/>
              <a:t>- Data merging and preprocessing</a:t>
            </a:r>
          </a:p>
          <a:p>
            <a:r>
              <a:rPr lang="en-IN" dirty="0"/>
              <a:t>- KPI creation</a:t>
            </a:r>
          </a:p>
          <a:p>
            <a:r>
              <a:rPr lang="en-IN" dirty="0"/>
              <a:t>- Business trend analysis</a:t>
            </a:r>
          </a:p>
          <a:p>
            <a:r>
              <a:rPr lang="en-IN" dirty="0"/>
              <a:t>- Power BI interactive dashboard</a:t>
            </a:r>
            <a:br>
              <a:rPr lang="en-IN" dirty="0"/>
            </a:br>
            <a:endParaRPr lang="en-IN" dirty="0"/>
          </a:p>
          <a:p>
            <a:r>
              <a:rPr lang="en-IN" dirty="0"/>
              <a:t>📌 </a:t>
            </a:r>
            <a:r>
              <a:rPr lang="en-IN" b="1" dirty="0"/>
              <a:t>Tools Used</a:t>
            </a:r>
            <a:br>
              <a:rPr lang="en-IN" b="1" dirty="0"/>
            </a:br>
            <a:endParaRPr lang="en-IN" dirty="0"/>
          </a:p>
          <a:p>
            <a:r>
              <a:rPr lang="en-US" dirty="0"/>
              <a:t>Python • Pandas • Power BI • Data Visualization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56466548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794F625-139A-0807-4242-FC1B8CEB57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2D50DBA3-590F-7779-7DCD-BDE9672F0368}"/>
              </a:ext>
            </a:extLst>
          </p:cNvPr>
          <p:cNvSpPr txBox="1"/>
          <p:nvPr/>
        </p:nvSpPr>
        <p:spPr>
          <a:xfrm>
            <a:off x="265471" y="216310"/>
            <a:ext cx="358877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Task </a:t>
            </a:r>
            <a:r>
              <a:rPr lang="en-US" sz="2000"/>
              <a:t>– 4 </a:t>
            </a:r>
            <a:r>
              <a:rPr lang="en-US" sz="2000" dirty="0"/>
              <a:t>Summary :</a:t>
            </a:r>
            <a:endParaRPr lang="en-IN" sz="20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3335ED9-E6C7-9A40-D2BC-E16A339095D1}"/>
              </a:ext>
            </a:extLst>
          </p:cNvPr>
          <p:cNvSpPr txBox="1"/>
          <p:nvPr/>
        </p:nvSpPr>
        <p:spPr>
          <a:xfrm>
            <a:off x="3500284" y="810966"/>
            <a:ext cx="519143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A/B Testing &amp; Statistical Validation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C77ED33-9924-F4BA-0C4C-8830C29D7833}"/>
              </a:ext>
            </a:extLst>
          </p:cNvPr>
          <p:cNvSpPr txBox="1"/>
          <p:nvPr/>
        </p:nvSpPr>
        <p:spPr>
          <a:xfrm>
            <a:off x="432619" y="1892050"/>
            <a:ext cx="11080954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📌 </a:t>
            </a:r>
            <a:r>
              <a:rPr lang="en-IN" b="1" dirty="0"/>
              <a:t>Objective</a:t>
            </a:r>
            <a:br>
              <a:rPr lang="en-IN" b="1" dirty="0"/>
            </a:br>
            <a:endParaRPr lang="en-IN" dirty="0"/>
          </a:p>
          <a:p>
            <a:r>
              <a:rPr lang="en-US" dirty="0"/>
              <a:t>Evaluate whether a </a:t>
            </a:r>
            <a:r>
              <a:rPr lang="en-US" b="1" dirty="0"/>
              <a:t>new landing page increases conversion rate</a:t>
            </a:r>
            <a:r>
              <a:rPr lang="en-US" dirty="0"/>
              <a:t> using statistical testing.</a:t>
            </a:r>
          </a:p>
          <a:p>
            <a:endParaRPr lang="en-US" dirty="0"/>
          </a:p>
          <a:p>
            <a:r>
              <a:rPr lang="en-IN" dirty="0"/>
              <a:t>📌 </a:t>
            </a:r>
            <a:r>
              <a:rPr lang="en-IN" b="1" dirty="0"/>
              <a:t>Key Work</a:t>
            </a:r>
            <a:br>
              <a:rPr lang="en-IN" b="1" dirty="0"/>
            </a:br>
            <a:endParaRPr lang="en-IN" dirty="0"/>
          </a:p>
          <a:p>
            <a:r>
              <a:rPr lang="en-IN" dirty="0"/>
              <a:t>- Conversion rate analysis</a:t>
            </a:r>
          </a:p>
          <a:p>
            <a:r>
              <a:rPr lang="en-IN" dirty="0"/>
              <a:t>- Hypothesis formulation</a:t>
            </a:r>
          </a:p>
          <a:p>
            <a:r>
              <a:rPr lang="en-IN" dirty="0"/>
              <a:t>- Z-test for proportions</a:t>
            </a:r>
          </a:p>
          <a:p>
            <a:r>
              <a:rPr lang="en-IN" dirty="0"/>
              <a:t>- Business decision making</a:t>
            </a:r>
            <a:br>
              <a:rPr lang="en-IN" dirty="0"/>
            </a:br>
            <a:endParaRPr lang="en-IN" dirty="0"/>
          </a:p>
          <a:p>
            <a:r>
              <a:rPr lang="en-IN" dirty="0"/>
              <a:t>📌 </a:t>
            </a:r>
            <a:r>
              <a:rPr lang="en-IN" b="1" dirty="0"/>
              <a:t>Tools Used</a:t>
            </a:r>
            <a:br>
              <a:rPr lang="en-IN" b="1" dirty="0"/>
            </a:br>
            <a:endParaRPr lang="en-IN" dirty="0"/>
          </a:p>
          <a:p>
            <a:r>
              <a:rPr lang="en-IN" dirty="0"/>
              <a:t>Python • Statistics • Hypothesis Testing</a:t>
            </a:r>
          </a:p>
        </p:txBody>
      </p:sp>
    </p:spTree>
    <p:extLst>
      <p:ext uri="{BB962C8B-B14F-4D97-AF65-F5344CB8AC3E}">
        <p14:creationId xmlns:p14="http://schemas.microsoft.com/office/powerpoint/2010/main" val="62282070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BEC04C3-E667-2A70-2227-E694F53274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4911476E-978B-FA87-A847-FDB3FA5B41FF}"/>
              </a:ext>
            </a:extLst>
          </p:cNvPr>
          <p:cNvSpPr txBox="1"/>
          <p:nvPr/>
        </p:nvSpPr>
        <p:spPr>
          <a:xfrm>
            <a:off x="629265" y="314632"/>
            <a:ext cx="289068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Skills Developed :</a:t>
            </a:r>
            <a:endParaRPr lang="en-IN" sz="24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38457AB-73B0-682F-F62F-CE496F4C099B}"/>
              </a:ext>
            </a:extLst>
          </p:cNvPr>
          <p:cNvSpPr txBox="1"/>
          <p:nvPr/>
        </p:nvSpPr>
        <p:spPr>
          <a:xfrm>
            <a:off x="757084" y="983226"/>
            <a:ext cx="4748981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- SQL Queries</a:t>
            </a:r>
          </a:p>
          <a:p>
            <a:r>
              <a:rPr lang="en-IN" dirty="0"/>
              <a:t>- Data Cleaning</a:t>
            </a:r>
          </a:p>
          <a:p>
            <a:r>
              <a:rPr lang="en-IN" dirty="0"/>
              <a:t>- Exploratory Data Analysis</a:t>
            </a:r>
          </a:p>
          <a:p>
            <a:r>
              <a:rPr lang="en-IN" dirty="0"/>
              <a:t>- Power BI Dashboard Development</a:t>
            </a:r>
          </a:p>
          <a:p>
            <a:r>
              <a:rPr lang="en-IN" dirty="0"/>
              <a:t>- A/B Testing</a:t>
            </a:r>
          </a:p>
          <a:p>
            <a:r>
              <a:rPr lang="en-IN" dirty="0"/>
              <a:t>- Hypothesis Testing</a:t>
            </a:r>
          </a:p>
          <a:p>
            <a:r>
              <a:rPr lang="en-IN" dirty="0"/>
              <a:t>- Data Storytelling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6065B97-323F-AC30-36B3-F601E9380488}"/>
              </a:ext>
            </a:extLst>
          </p:cNvPr>
          <p:cNvSpPr txBox="1"/>
          <p:nvPr/>
        </p:nvSpPr>
        <p:spPr>
          <a:xfrm>
            <a:off x="629265" y="3283974"/>
            <a:ext cx="323481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Tools Used :</a:t>
            </a:r>
            <a:endParaRPr lang="en-IN" sz="24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8BD8471-A6D1-2866-ECDA-030FDBA9AAFA}"/>
              </a:ext>
            </a:extLst>
          </p:cNvPr>
          <p:cNvSpPr txBox="1"/>
          <p:nvPr/>
        </p:nvSpPr>
        <p:spPr>
          <a:xfrm>
            <a:off x="757084" y="3864077"/>
            <a:ext cx="4513006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- Python</a:t>
            </a:r>
          </a:p>
          <a:p>
            <a:r>
              <a:rPr lang="en-IN" dirty="0"/>
              <a:t>- Pandas</a:t>
            </a:r>
          </a:p>
          <a:p>
            <a:r>
              <a:rPr lang="en-IN" dirty="0"/>
              <a:t>- NumPy</a:t>
            </a:r>
          </a:p>
          <a:p>
            <a:r>
              <a:rPr lang="en-IN" dirty="0"/>
              <a:t>- Matplotlib</a:t>
            </a:r>
          </a:p>
          <a:p>
            <a:r>
              <a:rPr lang="en-IN" dirty="0"/>
              <a:t>- Seaborn</a:t>
            </a:r>
          </a:p>
          <a:p>
            <a:r>
              <a:rPr lang="en-IN" dirty="0"/>
              <a:t>- SQL</a:t>
            </a:r>
          </a:p>
          <a:p>
            <a:r>
              <a:rPr lang="en-IN" dirty="0"/>
              <a:t>- Power BI</a:t>
            </a:r>
          </a:p>
          <a:p>
            <a:r>
              <a:rPr lang="en-IN" dirty="0"/>
              <a:t>- </a:t>
            </a:r>
            <a:r>
              <a:rPr lang="en-IN" dirty="0" err="1"/>
              <a:t>Jupyter</a:t>
            </a:r>
            <a:r>
              <a:rPr lang="en-IN" dirty="0"/>
              <a:t> Notebook</a:t>
            </a:r>
          </a:p>
          <a:p>
            <a:r>
              <a:rPr lang="en-IN" dirty="0"/>
              <a:t>- GitHub</a:t>
            </a:r>
          </a:p>
        </p:txBody>
      </p:sp>
    </p:spTree>
    <p:extLst>
      <p:ext uri="{BB962C8B-B14F-4D97-AF65-F5344CB8AC3E}">
        <p14:creationId xmlns:p14="http://schemas.microsoft.com/office/powerpoint/2010/main" val="111468193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Damask">
  <a:themeElements>
    <a:clrScheme name="Damask">
      <a:dk1>
        <a:sysClr val="windowText" lastClr="000000"/>
      </a:dk1>
      <a:lt1>
        <a:sysClr val="window" lastClr="FFFFFF"/>
      </a:lt1>
      <a:dk2>
        <a:srgbClr val="6D8C60"/>
      </a:dk2>
      <a:lt2>
        <a:srgbClr val="B1D7A1"/>
      </a:lt2>
      <a:accent1>
        <a:srgbClr val="81B992"/>
      </a:accent1>
      <a:accent2>
        <a:srgbClr val="9ABC65"/>
      </a:accent2>
      <a:accent3>
        <a:srgbClr val="BDB564"/>
      </a:accent3>
      <a:accent4>
        <a:srgbClr val="BD8964"/>
      </a:accent4>
      <a:accent5>
        <a:srgbClr val="BD6466"/>
      </a:accent5>
      <a:accent6>
        <a:srgbClr val="64A4BD"/>
      </a:accent6>
      <a:hlink>
        <a:srgbClr val="8CCC71"/>
      </a:hlink>
      <a:folHlink>
        <a:srgbClr val="A4C795"/>
      </a:folHlink>
    </a:clrScheme>
    <a:fontScheme name="Damask">
      <a:majorFont>
        <a:latin typeface="Bookman Old Style" panose="02050604050505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Rockwell" panose="020606030202050204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Damask">
      <a:fillStyleLst>
        <a:solidFill>
          <a:schemeClr val="phClr"/>
        </a:solidFill>
        <a:gradFill rotWithShape="1">
          <a:gsLst>
            <a:gs pos="0">
              <a:schemeClr val="phClr">
                <a:tint val="48000"/>
                <a:satMod val="105000"/>
                <a:lumMod val="110000"/>
              </a:schemeClr>
            </a:gs>
            <a:gs pos="100000">
              <a:schemeClr val="phClr">
                <a:tint val="78000"/>
                <a:satMod val="109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satMod val="100000"/>
                <a:lumMod val="104000"/>
              </a:schemeClr>
            </a:gs>
            <a:gs pos="69000">
              <a:schemeClr val="phClr">
                <a:shade val="86000"/>
                <a:satMod val="130000"/>
                <a:lumMod val="102000"/>
              </a:schemeClr>
            </a:gs>
            <a:gs pos="100000">
              <a:schemeClr val="phClr">
                <a:shade val="72000"/>
                <a:satMod val="130000"/>
                <a:lumMod val="100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38100" dir="5400000" sy="96000" rotWithShape="0">
              <a:srgbClr val="000000">
                <a:alpha val="54000"/>
              </a:srgbClr>
            </a:outerShdw>
          </a:effectLst>
        </a:effectStyle>
        <a:effectStyle>
          <a:effectLst>
            <a:outerShdw blurRad="76200" dist="38100" dir="5400000" algn="ctr" rotWithShape="0">
              <a:srgbClr val="000000">
                <a:alpha val="76000"/>
              </a:srgbClr>
            </a:outerShdw>
          </a:effectLst>
          <a:scene3d>
            <a:camera prst="orthographicFront">
              <a:rot lat="0" lon="0" rev="0"/>
            </a:camera>
            <a:lightRig rig="balanced" dir="t"/>
          </a:scene3d>
          <a:sp3d prstMaterial="matte">
            <a:bevelT w="25400" h="25400" prst="relaxedInset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blipFill rotWithShape="1">
          <a:blip xmlns:r="http://schemas.openxmlformats.org/officeDocument/2006/relationships" r:embed="rId1">
            <a:duotone>
              <a:schemeClr val="phClr">
                <a:shade val="18000"/>
                <a:satMod val="160000"/>
                <a:lumMod val="28000"/>
              </a:schemeClr>
              <a:schemeClr val="phClr">
                <a:tint val="95000"/>
                <a:satMod val="160000"/>
                <a:lumMod val="116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amask" id="{F9A299A0-33D0-4E0F-9F3F-7163E3744208}" vid="{4539428D-6454-4FE6-B992-2D59F0AC2F89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TM04033921[[fn=Damask]]</Template>
  <TotalTime>53</TotalTime>
  <Words>447</Words>
  <Application>Microsoft Office PowerPoint</Application>
  <PresentationFormat>Widescreen</PresentationFormat>
  <Paragraphs>69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1" baseType="lpstr">
      <vt:lpstr>Arial</vt:lpstr>
      <vt:lpstr>Bookman Old Style</vt:lpstr>
      <vt:lpstr>Rockwell</vt:lpstr>
      <vt:lpstr>Damask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Naga Venkata Sasi Kumar Avala</dc:creator>
  <cp:lastModifiedBy>Siddardha Ch</cp:lastModifiedBy>
  <cp:revision>1</cp:revision>
  <dcterms:created xsi:type="dcterms:W3CDTF">2026-03-11T13:27:23Z</dcterms:created>
  <dcterms:modified xsi:type="dcterms:W3CDTF">2026-06-16T07:10:43Z</dcterms:modified>
</cp:coreProperties>
</file>